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8" r:id="rId3"/>
    <p:sldId id="296" r:id="rId4"/>
    <p:sldId id="297" r:id="rId5"/>
    <p:sldId id="306" r:id="rId6"/>
    <p:sldId id="307" r:id="rId7"/>
    <p:sldId id="308" r:id="rId8"/>
    <p:sldId id="309" r:id="rId9"/>
    <p:sldId id="299" r:id="rId10"/>
    <p:sldId id="300" r:id="rId11"/>
    <p:sldId id="301" r:id="rId12"/>
    <p:sldId id="302" r:id="rId13"/>
    <p:sldId id="303" r:id="rId14"/>
    <p:sldId id="304" r:id="rId15"/>
    <p:sldId id="30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170"/>
  </p:normalViewPr>
  <p:slideViewPr>
    <p:cSldViewPr snapToGrid="0" snapToObjects="1">
      <p:cViewPr>
        <p:scale>
          <a:sx n="95" d="100"/>
          <a:sy n="95" d="100"/>
        </p:scale>
        <p:origin x="178" y="-2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8D72B0-741A-6242-81DB-B8AACA5FDCF2}" type="datetimeFigureOut">
              <a:rPr lang="en-US" smtClean="0"/>
              <a:t>10/23/2022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1021643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8D72B0-741A-6242-81DB-B8AACA5FDCF2}" type="datetimeFigureOut">
              <a:rPr lang="en-US" smtClean="0"/>
              <a:t>10/23/2022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1842284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8D72B0-741A-6242-81DB-B8AACA5FDCF2}" type="datetimeFigureOut">
              <a:rPr lang="en-US" smtClean="0"/>
              <a:t>10/23/2022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126861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8D72B0-741A-6242-81DB-B8AACA5FDCF2}" type="datetimeFigureOut">
              <a:rPr lang="en-US" smtClean="0"/>
              <a:t>10/23/2022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1243795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8D72B0-741A-6242-81DB-B8AACA5FDCF2}" type="datetimeFigureOut">
              <a:rPr lang="en-US" smtClean="0"/>
              <a:t>10/23/2022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3997104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8D72B0-741A-6242-81DB-B8AACA5FDCF2}" type="datetimeFigureOut">
              <a:rPr lang="en-US" smtClean="0"/>
              <a:t>10/23/2022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347441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2D8D72B0-741A-6242-81DB-B8AACA5FDCF2}" type="datetimeFigureOut">
              <a:rPr lang="en-US" smtClean="0"/>
              <a:t>10/23/2022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3763305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8D72B0-741A-6242-81DB-B8AACA5FDCF2}" type="datetimeFigureOut">
              <a:rPr lang="en-US" smtClean="0"/>
              <a:t>10/23/2022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1591451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8D72B0-741A-6242-81DB-B8AACA5FDCF2}" type="datetimeFigureOut">
              <a:rPr lang="en-US" smtClean="0"/>
              <a:t>10/23/2022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766839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8D72B0-741A-6242-81DB-B8AACA5FDCF2}" type="datetimeFigureOut">
              <a:rPr lang="en-US" smtClean="0"/>
              <a:t>10/23/2022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3991038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8D72B0-741A-6242-81DB-B8AACA5FDCF2}" type="datetimeFigureOut">
              <a:rPr lang="en-US" smtClean="0"/>
              <a:t>10/23/2022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4165842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8D72B0-741A-6242-81DB-B8AACA5FDCF2}" type="datetimeFigureOut">
              <a:rPr lang="en-US" smtClean="0"/>
              <a:t>10/23/2022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8B103D-D43E-D949-9ADC-A66F65BAD1DE}"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57012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8D72B0-741A-6242-81DB-B8AACA5FDCF2}" type="datetimeFigureOut">
              <a:rPr lang="en-US" smtClean="0"/>
              <a:t>10/23/2022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24689344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D8D72B0-741A-6242-81DB-B8AACA5FDCF2}" type="datetimeFigureOut">
              <a:rPr lang="en-US" smtClean="0"/>
              <a:t>10/23/2022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1408085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D8D72B0-741A-6242-81DB-B8AACA5FDCF2}" type="datetimeFigureOut">
              <a:rPr lang="en-US" smtClean="0"/>
              <a:t>10/23/2022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40813095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8D72B0-741A-6242-81DB-B8AACA5FDCF2}" type="datetimeFigureOut">
              <a:rPr lang="en-US" smtClean="0"/>
              <a:t>10/23/2022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759432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8D72B0-741A-6242-81DB-B8AACA5FDCF2}" type="datetimeFigureOut">
              <a:rPr lang="en-US" smtClean="0"/>
              <a:t>10/23/2022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8B103D-D43E-D949-9ADC-A66F65BAD1DE}" type="slidenum">
              <a:rPr lang="en-US" smtClean="0"/>
              <a:t>‹#›</a:t>
            </a:fld>
            <a:endParaRPr lang="en-US"/>
          </a:p>
        </p:txBody>
      </p:sp>
    </p:spTree>
    <p:extLst>
      <p:ext uri="{BB962C8B-B14F-4D97-AF65-F5344CB8AC3E}">
        <p14:creationId xmlns:p14="http://schemas.microsoft.com/office/powerpoint/2010/main" val="28920875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6587C51-A7E8-E041-9BD1-9BCA697A5811}" type="datetime1">
              <a:rPr lang="en-US" smtClean="0"/>
              <a:pPr>
                <a:defRPr/>
              </a:pPr>
              <a:t>10/23/2022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6A4D3DC4-9E7F-1C47-B729-896D53019E3D}" type="slidenum">
              <a:rPr lang="en-US" smtClean="0"/>
              <a:pPr>
                <a:defRPr/>
              </a:pPr>
              <a:t>‹#›</a:t>
            </a:fld>
            <a:endParaRPr lang="en-US"/>
          </a:p>
        </p:txBody>
      </p:sp>
    </p:spTree>
    <p:extLst>
      <p:ext uri="{BB962C8B-B14F-4D97-AF65-F5344CB8AC3E}">
        <p14:creationId xmlns:p14="http://schemas.microsoft.com/office/powerpoint/2010/main" val="996395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2D8D72B0-741A-6242-81DB-B8AACA5FDCF2}" type="datetimeFigureOut">
              <a:rPr lang="en-US" smtClean="0"/>
              <a:t>10/23/2022</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088B103D-D43E-D949-9ADC-A66F65BAD1DE}" type="slidenum">
              <a:rPr lang="en-US" smtClean="0"/>
              <a:t>‹#›</a:t>
            </a:fld>
            <a:endParaRPr lang="en-US"/>
          </a:p>
        </p:txBody>
      </p:sp>
    </p:spTree>
    <p:extLst>
      <p:ext uri="{BB962C8B-B14F-4D97-AF65-F5344CB8AC3E}">
        <p14:creationId xmlns:p14="http://schemas.microsoft.com/office/powerpoint/2010/main" val="1318033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B6C8-C495-F54B-B951-E70AF4CA73AA}"/>
              </a:ext>
            </a:extLst>
          </p:cNvPr>
          <p:cNvSpPr>
            <a:spLocks noGrp="1"/>
          </p:cNvSpPr>
          <p:nvPr>
            <p:ph type="ctrTitle"/>
          </p:nvPr>
        </p:nvSpPr>
        <p:spPr/>
        <p:txBody>
          <a:bodyPr/>
          <a:lstStyle/>
          <a:p>
            <a:r>
              <a:rPr lang="en-US" dirty="0"/>
              <a:t>General introduction</a:t>
            </a:r>
          </a:p>
        </p:txBody>
      </p:sp>
      <p:sp>
        <p:nvSpPr>
          <p:cNvPr id="3" name="Subtitle 2">
            <a:extLst>
              <a:ext uri="{FF2B5EF4-FFF2-40B4-BE49-F238E27FC236}">
                <a16:creationId xmlns:a16="http://schemas.microsoft.com/office/drawing/2014/main" id="{16922953-3DBF-E84A-A172-D23FF0FB60A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2340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981200" y="274639"/>
            <a:ext cx="7688597" cy="1178486"/>
          </a:xfrm>
        </p:spPr>
        <p:txBody>
          <a:bodyPr>
            <a:normAutofit fontScale="90000"/>
          </a:bodyPr>
          <a:lstStyle/>
          <a:p>
            <a:pPr eaLnBrk="1" hangingPunct="1"/>
            <a:r>
              <a:rPr lang="en-GB" dirty="0"/>
              <a:t>Frequently asked questions about software engineering</a:t>
            </a:r>
            <a:br>
              <a:rPr lang="en-GB" dirty="0"/>
            </a:b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020073147"/>
              </p:ext>
            </p:extLst>
          </p:nvPr>
        </p:nvGraphicFramePr>
        <p:xfrm>
          <a:off x="437322" y="1166191"/>
          <a:ext cx="11237843" cy="5024366"/>
        </p:xfrm>
        <a:graphic>
          <a:graphicData uri="http://schemas.openxmlformats.org/drawingml/2006/table">
            <a:tbl>
              <a:tblPr firstRow="1" bandRow="1">
                <a:tableStyleId>{B301B821-A1FF-4177-AEE7-76D212191A09}</a:tableStyleId>
              </a:tblPr>
              <a:tblGrid>
                <a:gridCol w="4812266">
                  <a:extLst>
                    <a:ext uri="{9D8B030D-6E8A-4147-A177-3AD203B41FA5}">
                      <a16:colId xmlns:a16="http://schemas.microsoft.com/office/drawing/2014/main" val="20000"/>
                    </a:ext>
                  </a:extLst>
                </a:gridCol>
                <a:gridCol w="6425577">
                  <a:extLst>
                    <a:ext uri="{9D8B030D-6E8A-4147-A177-3AD203B41FA5}">
                      <a16:colId xmlns:a16="http://schemas.microsoft.com/office/drawing/2014/main" val="20001"/>
                    </a:ext>
                  </a:extLst>
                </a:gridCol>
              </a:tblGrid>
              <a:tr h="52270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789915">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789915">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552091">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552091">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789915">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1027739">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39123"/>
            <a:ext cx="10364451" cy="1596177"/>
          </a:xfrm>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90209190"/>
              </p:ext>
            </p:extLst>
          </p:nvPr>
        </p:nvGraphicFramePr>
        <p:xfrm>
          <a:off x="1192696" y="1457740"/>
          <a:ext cx="9912626" cy="4763201"/>
        </p:xfrm>
        <a:graphic>
          <a:graphicData uri="http://schemas.openxmlformats.org/drawingml/2006/table">
            <a:tbl>
              <a:tblPr firstRow="1" bandRow="1">
                <a:tableStyleId>{5C22544A-7EE6-4342-B048-85BDC9FD1C3A}</a:tableStyleId>
              </a:tblPr>
              <a:tblGrid>
                <a:gridCol w="4201565">
                  <a:extLst>
                    <a:ext uri="{9D8B030D-6E8A-4147-A177-3AD203B41FA5}">
                      <a16:colId xmlns:a16="http://schemas.microsoft.com/office/drawing/2014/main" val="20000"/>
                    </a:ext>
                  </a:extLst>
                </a:gridCol>
                <a:gridCol w="5711061">
                  <a:extLst>
                    <a:ext uri="{9D8B030D-6E8A-4147-A177-3AD203B41FA5}">
                      <a16:colId xmlns:a16="http://schemas.microsoft.com/office/drawing/2014/main" val="20001"/>
                    </a:ext>
                  </a:extLst>
                </a:gridCol>
              </a:tblGrid>
              <a:tr h="393787">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525948">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75251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1885321">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1205635">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913775" y="86616"/>
            <a:ext cx="10364451" cy="1596177"/>
          </a:xfrm>
        </p:spPr>
        <p:txBody>
          <a:bodyPr/>
          <a:lstStyle/>
          <a:p>
            <a:pPr eaLnBrk="1" hangingPunct="1"/>
            <a:r>
              <a:rPr lang="en-GB" dirty="0"/>
              <a:t>Essential attributes of good software</a:t>
            </a:r>
            <a:endParaRPr lang="en-US" dirty="0"/>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859733513"/>
              </p:ext>
            </p:extLst>
          </p:nvPr>
        </p:nvGraphicFramePr>
        <p:xfrm>
          <a:off x="689113" y="1232452"/>
          <a:ext cx="10999304" cy="4740847"/>
        </p:xfrm>
        <a:graphic>
          <a:graphicData uri="http://schemas.openxmlformats.org/drawingml/2006/table">
            <a:tbl>
              <a:tblPr firstRow="1" bandRow="1">
                <a:tableStyleId>{B301B821-A1FF-4177-AEE7-76D212191A09}</a:tableStyleId>
              </a:tblPr>
              <a:tblGrid>
                <a:gridCol w="3133140">
                  <a:extLst>
                    <a:ext uri="{9D8B030D-6E8A-4147-A177-3AD203B41FA5}">
                      <a16:colId xmlns:a16="http://schemas.microsoft.com/office/drawing/2014/main" val="20000"/>
                    </a:ext>
                  </a:extLst>
                </a:gridCol>
                <a:gridCol w="7866164">
                  <a:extLst>
                    <a:ext uri="{9D8B030D-6E8A-4147-A177-3AD203B41FA5}">
                      <a16:colId xmlns:a16="http://schemas.microsoft.com/office/drawing/2014/main" val="20001"/>
                    </a:ext>
                  </a:extLst>
                </a:gridCol>
              </a:tblGrid>
              <a:tr h="562706">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1068965">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310344">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971246">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827586">
                <a:tc>
                  <a:txBody>
                    <a:bodyPr/>
                    <a:lstStyle/>
                    <a:p>
                      <a:pPr algn="just">
                        <a:spcAft>
                          <a:spcPts val="0"/>
                        </a:spcAft>
                      </a:pPr>
                      <a:r>
                        <a:rPr lang="en-GB" sz="1400">
                          <a:latin typeface="Arial"/>
                          <a:cs typeface="Arial"/>
                        </a:rPr>
                        <a:t>Acceptability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Software products</a:t>
            </a:r>
            <a:endParaRPr lang="en-US" dirty="0"/>
          </a:p>
        </p:txBody>
      </p:sp>
      <p:sp>
        <p:nvSpPr>
          <p:cNvPr id="3" name="Content Placeholder 2"/>
          <p:cNvSpPr>
            <a:spLocks noGrp="1"/>
          </p:cNvSpPr>
          <p:nvPr>
            <p:ph sz="quarter" idx="13"/>
          </p:nvPr>
        </p:nvSpPr>
        <p:spPr/>
        <p:txBody>
          <a:bodyPr>
            <a:normAutofit fontScale="92500" lnSpcReduction="20000"/>
          </a:bodyPr>
          <a:lstStyle/>
          <a:p>
            <a:pPr>
              <a:buFont typeface="Wingdings" panose="05000000000000000000" pitchFamily="2" charset="2"/>
              <a:buChar char="²"/>
            </a:pPr>
            <a:r>
              <a:rPr lang="en-US" altLang="en-US" dirty="0">
                <a:latin typeface="Arial" panose="020B0604020202020204" pitchFamily="34" charset="0"/>
                <a:cs typeface="Arial" panose="020B0604020202020204" pitchFamily="34" charset="0"/>
              </a:rPr>
              <a:t>Generic products</a:t>
            </a:r>
          </a:p>
          <a:p>
            <a:pPr lvl="1">
              <a:buFont typeface="Wingdings" panose="05000000000000000000" pitchFamily="2" charset="2"/>
              <a:buChar char="§"/>
            </a:pPr>
            <a:r>
              <a:rPr lang="en-US" altLang="en-US" dirty="0">
                <a:latin typeface="Arial" panose="020B0604020202020204" pitchFamily="34" charset="0"/>
                <a:cs typeface="Arial" panose="020B0604020202020204" pitchFamily="34" charset="0"/>
              </a:rPr>
              <a:t>Stand-alone systems that are marketed and sold to any customer who wishes to buy them.</a:t>
            </a:r>
          </a:p>
          <a:p>
            <a:pPr lvl="1">
              <a:buFont typeface="Wingdings" panose="05000000000000000000" pitchFamily="2" charset="2"/>
              <a:buChar char="§"/>
            </a:pPr>
            <a:r>
              <a:rPr lang="en-US" altLang="en-US" dirty="0">
                <a:latin typeface="Arial" panose="020B0604020202020204" pitchFamily="34" charset="0"/>
                <a:cs typeface="Arial" panose="020B0604020202020204" pitchFamily="34" charset="0"/>
              </a:rPr>
              <a:t>Examples – PC software such as graphics programs, project management tools; CAD software; software for specific markets such as appointments systems for dentists.</a:t>
            </a:r>
          </a:p>
          <a:p>
            <a:pPr>
              <a:buFont typeface="Wingdings" panose="05000000000000000000" pitchFamily="2" charset="2"/>
              <a:buChar char="²"/>
            </a:pPr>
            <a:r>
              <a:rPr lang="en-US" altLang="en-US" dirty="0">
                <a:latin typeface="Arial" panose="020B0604020202020204" pitchFamily="34" charset="0"/>
                <a:cs typeface="Arial" panose="020B0604020202020204" pitchFamily="34" charset="0"/>
              </a:rPr>
              <a:t>Customized products</a:t>
            </a:r>
          </a:p>
          <a:p>
            <a:pPr lvl="1">
              <a:buFont typeface="Wingdings" panose="05000000000000000000" pitchFamily="2" charset="2"/>
              <a:buChar char="§"/>
            </a:pPr>
            <a:r>
              <a:rPr lang="en-US" altLang="en-US" dirty="0">
                <a:latin typeface="Arial" panose="020B0604020202020204" pitchFamily="34" charset="0"/>
                <a:cs typeface="Arial" panose="020B0604020202020204" pitchFamily="34" charset="0"/>
              </a:rPr>
              <a:t>Software that is commissioned by a specific customer to meet their own needs. </a:t>
            </a:r>
          </a:p>
          <a:p>
            <a:pPr lvl="1">
              <a:buFont typeface="Wingdings" panose="05000000000000000000" pitchFamily="2" charset="2"/>
              <a:buChar char="§"/>
            </a:pPr>
            <a:r>
              <a:rPr lang="en-US" altLang="en-US" dirty="0">
                <a:latin typeface="Arial" panose="020B0604020202020204" pitchFamily="34" charset="0"/>
                <a:cs typeface="Arial" panose="020B0604020202020204" pitchFamily="34" charset="0"/>
              </a:rPr>
              <a:t>Examples – embedded control systems, air traffic control software, traffic monitoring systems.</a:t>
            </a:r>
          </a:p>
        </p:txBody>
      </p:sp>
    </p:spTree>
    <p:extLst>
      <p:ext uri="{BB962C8B-B14F-4D97-AF65-F5344CB8AC3E}">
        <p14:creationId xmlns:p14="http://schemas.microsoft.com/office/powerpoint/2010/main" val="2776256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Product specification</a:t>
            </a:r>
            <a:endParaRPr lang="en-US" dirty="0"/>
          </a:p>
        </p:txBody>
      </p:sp>
      <p:sp>
        <p:nvSpPr>
          <p:cNvPr id="3" name="Content Placeholder 2"/>
          <p:cNvSpPr>
            <a:spLocks noGrp="1"/>
          </p:cNvSpPr>
          <p:nvPr>
            <p:ph sz="quarter" idx="13"/>
          </p:nvPr>
        </p:nvSpPr>
        <p:spPr/>
        <p:txBody>
          <a:bodyPr>
            <a:normAutofit lnSpcReduction="10000"/>
          </a:bodyPr>
          <a:lstStyle/>
          <a:p>
            <a:pPr>
              <a:buFont typeface="Wingdings" panose="05000000000000000000" pitchFamily="2" charset="2"/>
              <a:buChar char="²"/>
            </a:pPr>
            <a:r>
              <a:rPr lang="en-US" altLang="en-US" dirty="0">
                <a:latin typeface="Arial" panose="020B0604020202020204" pitchFamily="34" charset="0"/>
                <a:cs typeface="Arial" panose="020B0604020202020204" pitchFamily="34" charset="0"/>
              </a:rPr>
              <a:t>Generic products</a:t>
            </a:r>
          </a:p>
          <a:p>
            <a:pPr lvl="1">
              <a:buFont typeface="Wingdings" panose="05000000000000000000" pitchFamily="2" charset="2"/>
              <a:buChar char="§"/>
            </a:pPr>
            <a:r>
              <a:rPr lang="en-US" altLang="en-US" dirty="0">
                <a:latin typeface="Arial" panose="020B0604020202020204" pitchFamily="34" charset="0"/>
                <a:cs typeface="Arial" panose="020B0604020202020204" pitchFamily="34" charset="0"/>
              </a:rPr>
              <a:t>The </a:t>
            </a:r>
            <a:r>
              <a:rPr lang="en-US" altLang="en-US" u="sng" dirty="0">
                <a:latin typeface="Arial" panose="020B0604020202020204" pitchFamily="34" charset="0"/>
                <a:cs typeface="Arial" panose="020B0604020202020204" pitchFamily="34" charset="0"/>
              </a:rPr>
              <a:t>specification</a:t>
            </a:r>
            <a:r>
              <a:rPr lang="en-US" altLang="en-US" dirty="0">
                <a:latin typeface="Arial" panose="020B0604020202020204" pitchFamily="34" charset="0"/>
                <a:cs typeface="Arial" panose="020B0604020202020204" pitchFamily="34" charset="0"/>
              </a:rPr>
              <a:t> of what the software should do is </a:t>
            </a:r>
            <a:r>
              <a:rPr lang="en-US" altLang="en-US" u="sng" dirty="0">
                <a:latin typeface="Arial" panose="020B0604020202020204" pitchFamily="34" charset="0"/>
                <a:cs typeface="Arial" panose="020B0604020202020204" pitchFamily="34" charset="0"/>
              </a:rPr>
              <a:t>owned by the software developer</a:t>
            </a:r>
            <a:r>
              <a:rPr lang="en-US" altLang="en-US" dirty="0">
                <a:latin typeface="Arial" panose="020B0604020202020204" pitchFamily="34" charset="0"/>
                <a:cs typeface="Arial" panose="020B0604020202020204" pitchFamily="34" charset="0"/>
              </a:rPr>
              <a:t> and</a:t>
            </a:r>
          </a:p>
          <a:p>
            <a:pPr lvl="1">
              <a:buFont typeface="Wingdings" panose="05000000000000000000" pitchFamily="2" charset="2"/>
              <a:buChar char="§"/>
            </a:pPr>
            <a:r>
              <a:rPr lang="en-US" altLang="en-US" u="sng" dirty="0">
                <a:latin typeface="Arial" panose="020B0604020202020204" pitchFamily="34" charset="0"/>
                <a:cs typeface="Arial" panose="020B0604020202020204" pitchFamily="34" charset="0"/>
              </a:rPr>
              <a:t>decisions</a:t>
            </a:r>
            <a:r>
              <a:rPr lang="en-US" altLang="en-US" dirty="0">
                <a:latin typeface="Arial" panose="020B0604020202020204" pitchFamily="34" charset="0"/>
                <a:cs typeface="Arial" panose="020B0604020202020204" pitchFamily="34" charset="0"/>
              </a:rPr>
              <a:t> on  </a:t>
            </a:r>
            <a:r>
              <a:rPr lang="en-US" altLang="en-US" u="sng" dirty="0">
                <a:latin typeface="Arial" panose="020B0604020202020204" pitchFamily="34" charset="0"/>
                <a:cs typeface="Arial" panose="020B0604020202020204" pitchFamily="34" charset="0"/>
              </a:rPr>
              <a:t>software change are made by the developer</a:t>
            </a:r>
            <a:endParaRPr lang="en-US" altLang="en-US" dirty="0">
              <a:latin typeface="Arial" panose="020B0604020202020204" pitchFamily="34" charset="0"/>
              <a:cs typeface="Arial" panose="020B0604020202020204" pitchFamily="34" charset="0"/>
            </a:endParaRPr>
          </a:p>
          <a:p>
            <a:pPr>
              <a:buFont typeface="Wingdings" panose="05000000000000000000" pitchFamily="2" charset="2"/>
              <a:buChar char="²"/>
            </a:pPr>
            <a:r>
              <a:rPr lang="en-US" altLang="en-US" dirty="0">
                <a:latin typeface="Arial" panose="020B0604020202020204" pitchFamily="34" charset="0"/>
                <a:cs typeface="Arial" panose="020B0604020202020204" pitchFamily="34" charset="0"/>
              </a:rPr>
              <a:t>Customized products</a:t>
            </a:r>
          </a:p>
          <a:p>
            <a:pPr lvl="1">
              <a:buFont typeface="Wingdings" panose="05000000000000000000" pitchFamily="2" charset="2"/>
              <a:buChar char="§"/>
            </a:pPr>
            <a:r>
              <a:rPr lang="en-US" altLang="en-US" dirty="0">
                <a:latin typeface="Arial" panose="020B0604020202020204" pitchFamily="34" charset="0"/>
                <a:cs typeface="Arial" panose="020B0604020202020204" pitchFamily="34" charset="0"/>
              </a:rPr>
              <a:t>The </a:t>
            </a:r>
            <a:r>
              <a:rPr lang="en-US" altLang="en-US" u="sng" dirty="0">
                <a:latin typeface="Arial" panose="020B0604020202020204" pitchFamily="34" charset="0"/>
                <a:cs typeface="Arial" panose="020B0604020202020204" pitchFamily="34" charset="0"/>
              </a:rPr>
              <a:t>specification</a:t>
            </a:r>
            <a:r>
              <a:rPr lang="en-US" altLang="en-US" dirty="0">
                <a:latin typeface="Arial" panose="020B0604020202020204" pitchFamily="34" charset="0"/>
                <a:cs typeface="Arial" panose="020B0604020202020204" pitchFamily="34" charset="0"/>
              </a:rPr>
              <a:t> of what the software should do is </a:t>
            </a:r>
            <a:r>
              <a:rPr lang="en-US" altLang="en-US" u="sng" dirty="0">
                <a:latin typeface="Arial" panose="020B0604020202020204" pitchFamily="34" charset="0"/>
                <a:cs typeface="Arial" panose="020B0604020202020204" pitchFamily="34" charset="0"/>
              </a:rPr>
              <a:t>owned by the customer</a:t>
            </a:r>
            <a:r>
              <a:rPr lang="en-US" altLang="en-US" dirty="0">
                <a:latin typeface="Arial" panose="020B0604020202020204" pitchFamily="34" charset="0"/>
                <a:cs typeface="Arial" panose="020B0604020202020204" pitchFamily="34" charset="0"/>
              </a:rPr>
              <a:t> for the software and</a:t>
            </a:r>
          </a:p>
          <a:p>
            <a:pPr lvl="1">
              <a:buFont typeface="Wingdings" panose="05000000000000000000" pitchFamily="2" charset="2"/>
              <a:buChar char="§"/>
            </a:pPr>
            <a:r>
              <a:rPr lang="en-US" altLang="en-US" dirty="0">
                <a:latin typeface="Arial" panose="020B0604020202020204" pitchFamily="34" charset="0"/>
                <a:cs typeface="Arial" panose="020B0604020202020204" pitchFamily="34" charset="0"/>
              </a:rPr>
              <a:t>they (</a:t>
            </a:r>
            <a:r>
              <a:rPr lang="en-US" altLang="en-US" u="sng" dirty="0">
                <a:latin typeface="Arial" panose="020B0604020202020204" pitchFamily="34" charset="0"/>
                <a:cs typeface="Arial" panose="020B0604020202020204" pitchFamily="34" charset="0"/>
              </a:rPr>
              <a:t>customer</a:t>
            </a:r>
            <a:r>
              <a:rPr lang="en-US" altLang="en-US" dirty="0">
                <a:latin typeface="Arial" panose="020B0604020202020204" pitchFamily="34" charset="0"/>
                <a:cs typeface="Arial" panose="020B0604020202020204" pitchFamily="34" charset="0"/>
              </a:rPr>
              <a:t>) </a:t>
            </a:r>
            <a:r>
              <a:rPr lang="en-US" altLang="en-US" u="sng" dirty="0">
                <a:latin typeface="Arial" panose="020B0604020202020204" pitchFamily="34" charset="0"/>
                <a:cs typeface="Arial" panose="020B0604020202020204" pitchFamily="34" charset="0"/>
              </a:rPr>
              <a:t>make decisions on software changes </a:t>
            </a:r>
            <a:r>
              <a:rPr lang="en-US" altLang="en-US" dirty="0">
                <a:latin typeface="Arial" panose="020B0604020202020204" pitchFamily="34" charset="0"/>
                <a:cs typeface="Arial" panose="020B0604020202020204" pitchFamily="34" charset="0"/>
              </a:rPr>
              <a:t>that are required.</a:t>
            </a:r>
          </a:p>
        </p:txBody>
      </p:sp>
    </p:spTree>
    <p:extLst>
      <p:ext uri="{BB962C8B-B14F-4D97-AF65-F5344CB8AC3E}">
        <p14:creationId xmlns:p14="http://schemas.microsoft.com/office/powerpoint/2010/main" val="4083745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Software process activities</a:t>
            </a:r>
            <a:endParaRPr lang="en-US" dirty="0"/>
          </a:p>
        </p:txBody>
      </p:sp>
      <p:sp>
        <p:nvSpPr>
          <p:cNvPr id="3" name="Content Placeholder 2"/>
          <p:cNvSpPr>
            <a:spLocks noGrp="1"/>
          </p:cNvSpPr>
          <p:nvPr>
            <p:ph sz="quarter" idx="13"/>
          </p:nvPr>
        </p:nvSpPr>
        <p:spPr>
          <a:xfrm>
            <a:off x="913774" y="2367092"/>
            <a:ext cx="10363826" cy="3953497"/>
          </a:xfrm>
        </p:spPr>
        <p:txBody>
          <a:bodyPr/>
          <a:lstStyle/>
          <a:p>
            <a:pPr>
              <a:defRPr/>
            </a:pPr>
            <a:r>
              <a:rPr lang="en-GB" dirty="0">
                <a:solidFill>
                  <a:schemeClr val="tx2">
                    <a:lumMod val="60000"/>
                    <a:lumOff val="40000"/>
                  </a:schemeClr>
                </a:solidFill>
                <a:ea typeface="ＭＳ Ｐゴシック" charset="-128"/>
              </a:rPr>
              <a:t>Software specification</a:t>
            </a:r>
            <a:r>
              <a:rPr lang="en-GB" dirty="0">
                <a:ea typeface="ＭＳ Ｐゴシック" charset="-128"/>
              </a:rPr>
              <a:t>, where </a:t>
            </a:r>
            <a:r>
              <a:rPr lang="en-GB" u="sng" dirty="0">
                <a:ea typeface="ＭＳ Ｐゴシック" charset="-128"/>
              </a:rPr>
              <a:t>customers</a:t>
            </a:r>
            <a:r>
              <a:rPr lang="en-GB" dirty="0">
                <a:ea typeface="ＭＳ Ｐゴシック" charset="-128"/>
              </a:rPr>
              <a:t> and </a:t>
            </a:r>
            <a:r>
              <a:rPr lang="en-GB" u="sng" dirty="0">
                <a:ea typeface="ＭＳ Ｐゴシック" charset="-128"/>
              </a:rPr>
              <a:t>engineers </a:t>
            </a:r>
            <a:r>
              <a:rPr lang="en-GB" dirty="0">
                <a:ea typeface="ＭＳ Ｐゴシック" charset="-128"/>
              </a:rPr>
              <a:t>define the software that is to be produced and the constraints on its operation.</a:t>
            </a:r>
          </a:p>
          <a:p>
            <a:pPr>
              <a:defRPr/>
            </a:pPr>
            <a:r>
              <a:rPr lang="en-GB" dirty="0">
                <a:solidFill>
                  <a:srgbClr val="558ED5"/>
                </a:solidFill>
                <a:ea typeface="ＭＳ Ｐゴシック" charset="-128"/>
              </a:rPr>
              <a:t>Software development</a:t>
            </a:r>
            <a:r>
              <a:rPr lang="en-GB" dirty="0">
                <a:ea typeface="ＭＳ Ｐゴシック" charset="-128"/>
              </a:rPr>
              <a:t>, where the software is designed and programmed.</a:t>
            </a:r>
          </a:p>
          <a:p>
            <a:pPr>
              <a:defRPr/>
            </a:pPr>
            <a:r>
              <a:rPr lang="en-GB" dirty="0">
                <a:solidFill>
                  <a:srgbClr val="558ED5"/>
                </a:solidFill>
                <a:ea typeface="ＭＳ Ｐゴシック" charset="-128"/>
              </a:rPr>
              <a:t>Software validation</a:t>
            </a:r>
            <a:r>
              <a:rPr lang="en-GB" dirty="0">
                <a:ea typeface="ＭＳ Ｐゴシック" charset="-128"/>
              </a:rPr>
              <a:t>, where the software is checked to ensure that it is what the customer requires.</a:t>
            </a:r>
          </a:p>
          <a:p>
            <a:pPr>
              <a:defRPr/>
            </a:pPr>
            <a:r>
              <a:rPr lang="en-GB" dirty="0">
                <a:solidFill>
                  <a:srgbClr val="558ED5"/>
                </a:solidFill>
                <a:ea typeface="ＭＳ Ｐゴシック" charset="-128"/>
              </a:rPr>
              <a:t>Software evolution</a:t>
            </a:r>
            <a:r>
              <a:rPr lang="en-GB" dirty="0">
                <a:ea typeface="ＭＳ Ｐゴシック" charset="-128"/>
              </a:rPr>
              <a:t>, where the software is modified to reflect changing customer and market requirements</a:t>
            </a:r>
            <a:r>
              <a:rPr lang="en-GB" dirty="0" smtClean="0">
                <a:ea typeface="ＭＳ Ｐゴシック" charset="-128"/>
              </a:rPr>
              <a:t>.</a:t>
            </a:r>
            <a:endParaRPr lang="en-GB" dirty="0">
              <a:ea typeface="ＭＳ Ｐゴシック" charset="-128"/>
            </a:endParaRPr>
          </a:p>
        </p:txBody>
      </p:sp>
    </p:spTree>
    <p:extLst>
      <p:ext uri="{BB962C8B-B14F-4D97-AF65-F5344CB8AC3E}">
        <p14:creationId xmlns:p14="http://schemas.microsoft.com/office/powerpoint/2010/main" val="4238111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General issues that affect most software</a:t>
            </a:r>
            <a:endParaRPr lang="en-US" dirty="0"/>
          </a:p>
        </p:txBody>
      </p:sp>
      <p:sp>
        <p:nvSpPr>
          <p:cNvPr id="3" name="Content Placeholder 2"/>
          <p:cNvSpPr>
            <a:spLocks noGrp="1"/>
          </p:cNvSpPr>
          <p:nvPr>
            <p:ph sz="quarter" idx="13"/>
          </p:nvPr>
        </p:nvSpPr>
        <p:spPr>
          <a:xfrm>
            <a:off x="913774" y="2077453"/>
            <a:ext cx="10363826" cy="4251157"/>
          </a:xfrm>
        </p:spPr>
        <p:txBody>
          <a:bodyPr>
            <a:normAutofit fontScale="92500" lnSpcReduction="10000"/>
          </a:bodyPr>
          <a:lstStyle/>
          <a:p>
            <a:pPr>
              <a:buFont typeface="Wingdings" panose="05000000000000000000" pitchFamily="2" charset="2"/>
              <a:buChar char="²"/>
            </a:pPr>
            <a:r>
              <a:rPr lang="en-GB" altLang="en-US" dirty="0">
                <a:latin typeface="Arial" panose="020B0604020202020204" pitchFamily="34" charset="0"/>
                <a:cs typeface="Arial" panose="020B0604020202020204" pitchFamily="34" charset="0"/>
              </a:rPr>
              <a:t>Heterogeneity </a:t>
            </a:r>
          </a:p>
          <a:p>
            <a:pPr lvl="1">
              <a:buFont typeface="Wingdings" panose="05000000000000000000" pitchFamily="2" charset="2"/>
              <a:buChar char="§"/>
            </a:pPr>
            <a:r>
              <a:rPr lang="en-GB" altLang="en-US" dirty="0">
                <a:latin typeface="Arial" panose="020B0604020202020204" pitchFamily="34" charset="0"/>
                <a:cs typeface="Arial" panose="020B0604020202020204" pitchFamily="34" charset="0"/>
              </a:rPr>
              <a:t>Increasingly, systems are required to operate as distributed systems across networks that include different types of computer and mobile devices. </a:t>
            </a:r>
          </a:p>
          <a:p>
            <a:pPr>
              <a:buFont typeface="Wingdings" panose="05000000000000000000" pitchFamily="2" charset="2"/>
              <a:buChar char="²"/>
            </a:pPr>
            <a:r>
              <a:rPr lang="en-GB" altLang="en-US" dirty="0">
                <a:latin typeface="Arial" panose="020B0604020202020204" pitchFamily="34" charset="0"/>
                <a:cs typeface="Arial" panose="020B0604020202020204" pitchFamily="34" charset="0"/>
              </a:rPr>
              <a:t>Business and social change </a:t>
            </a:r>
          </a:p>
          <a:p>
            <a:pPr lvl="1">
              <a:buFont typeface="Wingdings" panose="05000000000000000000" pitchFamily="2" charset="2"/>
              <a:buChar char="§"/>
            </a:pPr>
            <a:r>
              <a:rPr lang="en-GB" altLang="en-US" dirty="0">
                <a:latin typeface="Arial" panose="020B0604020202020204" pitchFamily="34" charset="0"/>
                <a:cs typeface="Arial" panose="020B0604020202020204" pitchFamily="34" charset="0"/>
              </a:rPr>
              <a:t>Business and society are changing incredibly quickly as </a:t>
            </a:r>
            <a:r>
              <a:rPr lang="en-GB" altLang="en-US" u="sng" dirty="0">
                <a:latin typeface="Arial" panose="020B0604020202020204" pitchFamily="34" charset="0"/>
                <a:cs typeface="Arial" panose="020B0604020202020204" pitchFamily="34" charset="0"/>
              </a:rPr>
              <a:t>emerging economies </a:t>
            </a:r>
            <a:r>
              <a:rPr lang="en-GB" altLang="en-US" dirty="0">
                <a:latin typeface="Arial" panose="020B0604020202020204" pitchFamily="34" charset="0"/>
                <a:cs typeface="Arial" panose="020B0604020202020204" pitchFamily="34" charset="0"/>
              </a:rPr>
              <a:t>develop and </a:t>
            </a:r>
            <a:r>
              <a:rPr lang="en-GB" altLang="en-US" u="sng" dirty="0">
                <a:latin typeface="Arial" panose="020B0604020202020204" pitchFamily="34" charset="0"/>
                <a:cs typeface="Arial" panose="020B0604020202020204" pitchFamily="34" charset="0"/>
              </a:rPr>
              <a:t>new technologies </a:t>
            </a:r>
            <a:r>
              <a:rPr lang="en-GB" altLang="en-US" dirty="0">
                <a:latin typeface="Arial" panose="020B0604020202020204" pitchFamily="34" charset="0"/>
                <a:cs typeface="Arial" panose="020B0604020202020204" pitchFamily="34" charset="0"/>
              </a:rPr>
              <a:t>become available. </a:t>
            </a:r>
          </a:p>
          <a:p>
            <a:pPr lvl="1">
              <a:buFont typeface="Wingdings" panose="05000000000000000000" pitchFamily="2" charset="2"/>
              <a:buChar char="§"/>
            </a:pPr>
            <a:r>
              <a:rPr lang="en-GB" altLang="en-US" dirty="0">
                <a:latin typeface="Arial" panose="020B0604020202020204" pitchFamily="34" charset="0"/>
                <a:cs typeface="Arial" panose="020B0604020202020204" pitchFamily="34" charset="0"/>
              </a:rPr>
              <a:t>They need to be able to </a:t>
            </a:r>
            <a:r>
              <a:rPr lang="en-GB" altLang="en-US" u="sng" dirty="0">
                <a:latin typeface="Arial" panose="020B0604020202020204" pitchFamily="34" charset="0"/>
                <a:cs typeface="Arial" panose="020B0604020202020204" pitchFamily="34" charset="0"/>
              </a:rPr>
              <a:t>change their existing software </a:t>
            </a:r>
            <a:r>
              <a:rPr lang="en-GB" altLang="en-US" dirty="0">
                <a:latin typeface="Arial" panose="020B0604020202020204" pitchFamily="34" charset="0"/>
                <a:cs typeface="Arial" panose="020B0604020202020204" pitchFamily="34" charset="0"/>
              </a:rPr>
              <a:t>and to </a:t>
            </a:r>
            <a:r>
              <a:rPr lang="en-GB" altLang="en-US" u="sng" dirty="0">
                <a:latin typeface="Arial" panose="020B0604020202020204" pitchFamily="34" charset="0"/>
                <a:cs typeface="Arial" panose="020B0604020202020204" pitchFamily="34" charset="0"/>
              </a:rPr>
              <a:t>rapidly develop new software</a:t>
            </a:r>
            <a:r>
              <a:rPr lang="en-GB" altLang="en-US" dirty="0">
                <a:latin typeface="Arial" panose="020B0604020202020204" pitchFamily="34" charset="0"/>
                <a:cs typeface="Arial" panose="020B0604020202020204" pitchFamily="34" charset="0"/>
              </a:rPr>
              <a:t>. </a:t>
            </a:r>
          </a:p>
          <a:p>
            <a:pPr>
              <a:buFont typeface="Wingdings" panose="05000000000000000000" pitchFamily="2" charset="2"/>
              <a:buChar char="²"/>
            </a:pPr>
            <a:r>
              <a:rPr lang="en-GB" altLang="en-US" dirty="0">
                <a:latin typeface="Arial" panose="020B0604020202020204" pitchFamily="34" charset="0"/>
                <a:cs typeface="Arial" panose="020B0604020202020204" pitchFamily="34" charset="0"/>
              </a:rPr>
              <a:t>Security and trust </a:t>
            </a:r>
          </a:p>
          <a:p>
            <a:pPr lvl="1">
              <a:buFont typeface="Wingdings" panose="05000000000000000000" pitchFamily="2" charset="2"/>
              <a:buChar char="§"/>
            </a:pPr>
            <a:r>
              <a:rPr lang="en-GB" altLang="en-US" dirty="0">
                <a:latin typeface="Arial" panose="020B0604020202020204" pitchFamily="34" charset="0"/>
                <a:cs typeface="Arial" panose="020B0604020202020204" pitchFamily="34" charset="0"/>
              </a:rPr>
              <a:t>As software is intertwined with all aspects of our lives, it is </a:t>
            </a:r>
            <a:r>
              <a:rPr lang="en-GB" altLang="en-US" u="sng" dirty="0">
                <a:latin typeface="Arial" panose="020B0604020202020204" pitchFamily="34" charset="0"/>
                <a:cs typeface="Arial" panose="020B0604020202020204" pitchFamily="34" charset="0"/>
              </a:rPr>
              <a:t>essential</a:t>
            </a:r>
            <a:r>
              <a:rPr lang="en-GB" altLang="en-US" dirty="0">
                <a:latin typeface="Arial" panose="020B0604020202020204" pitchFamily="34" charset="0"/>
                <a:cs typeface="Arial" panose="020B0604020202020204" pitchFamily="34" charset="0"/>
              </a:rPr>
              <a:t> that we can </a:t>
            </a:r>
            <a:r>
              <a:rPr lang="en-GB" altLang="en-US" u="sng" dirty="0">
                <a:latin typeface="Arial" panose="020B0604020202020204" pitchFamily="34" charset="0"/>
                <a:cs typeface="Arial" panose="020B0604020202020204" pitchFamily="34" charset="0"/>
              </a:rPr>
              <a:t>trust</a:t>
            </a:r>
            <a:r>
              <a:rPr lang="en-GB" altLang="en-US" dirty="0">
                <a:latin typeface="Arial" panose="020B0604020202020204" pitchFamily="34" charset="0"/>
                <a:cs typeface="Arial" panose="020B0604020202020204" pitchFamily="34" charset="0"/>
              </a:rPr>
              <a:t> that software. </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4121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8275A-54D7-0846-A921-89E790A9A9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C9C55A-3790-984B-8630-8CCBD3A2659C}"/>
              </a:ext>
            </a:extLst>
          </p:cNvPr>
          <p:cNvSpPr>
            <a:spLocks noGrp="1"/>
          </p:cNvSpPr>
          <p:nvPr>
            <p:ph sz="quarter" idx="13"/>
          </p:nvPr>
        </p:nvSpPr>
        <p:spPr/>
        <p:txBody>
          <a:bodyPr/>
          <a:lstStyle/>
          <a:p>
            <a:endParaRPr lang="en-US"/>
          </a:p>
        </p:txBody>
      </p:sp>
      <p:pic>
        <p:nvPicPr>
          <p:cNvPr id="4" name="Picture 3">
            <a:extLst>
              <a:ext uri="{FF2B5EF4-FFF2-40B4-BE49-F238E27FC236}">
                <a16:creationId xmlns:a16="http://schemas.microsoft.com/office/drawing/2014/main" id="{D5843A5D-0B17-5148-A336-9CEB042B8BBF}"/>
              </a:ext>
            </a:extLst>
          </p:cNvPr>
          <p:cNvPicPr>
            <a:picLocks noChangeAspect="1"/>
          </p:cNvPicPr>
          <p:nvPr/>
        </p:nvPicPr>
        <p:blipFill>
          <a:blip r:embed="rId2"/>
          <a:stretch>
            <a:fillRect/>
          </a:stretch>
        </p:blipFill>
        <p:spPr>
          <a:xfrm>
            <a:off x="0" y="1202267"/>
            <a:ext cx="12192000" cy="4385733"/>
          </a:xfrm>
          <a:prstGeom prst="rect">
            <a:avLst/>
          </a:prstGeom>
        </p:spPr>
      </p:pic>
    </p:spTree>
    <p:extLst>
      <p:ext uri="{BB962C8B-B14F-4D97-AF65-F5344CB8AC3E}">
        <p14:creationId xmlns:p14="http://schemas.microsoft.com/office/powerpoint/2010/main" val="14092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Five elements </a:t>
            </a:r>
            <a:r>
              <a:rPr lang="en-US" b="1" i="1" dirty="0"/>
              <a:t>of collaboration</a:t>
            </a:r>
            <a:endParaRPr lang="en-US" dirty="0"/>
          </a:p>
        </p:txBody>
      </p:sp>
      <p:sp>
        <p:nvSpPr>
          <p:cNvPr id="3" name="Content Placeholder 2"/>
          <p:cNvSpPr>
            <a:spLocks noGrp="1"/>
          </p:cNvSpPr>
          <p:nvPr>
            <p:ph sz="quarter" idx="13"/>
          </p:nvPr>
        </p:nvSpPr>
        <p:spPr/>
        <p:txBody>
          <a:bodyPr>
            <a:normAutofit/>
          </a:bodyPr>
          <a:lstStyle/>
          <a:p>
            <a:r>
              <a:rPr lang="en-US" sz="2400" b="1" dirty="0">
                <a:solidFill>
                  <a:srgbClr val="C00000"/>
                </a:solidFill>
              </a:rPr>
              <a:t>(1) Positive interdependence</a:t>
            </a:r>
          </a:p>
          <a:p>
            <a:r>
              <a:rPr lang="en-US" sz="2400" b="1" dirty="0">
                <a:solidFill>
                  <a:srgbClr val="C00000"/>
                </a:solidFill>
              </a:rPr>
              <a:t>(2) Face-to-face </a:t>
            </a:r>
            <a:r>
              <a:rPr lang="en-US" sz="2400" b="1" dirty="0" err="1">
                <a:solidFill>
                  <a:srgbClr val="C00000"/>
                </a:solidFill>
              </a:rPr>
              <a:t>promotive</a:t>
            </a:r>
            <a:r>
              <a:rPr lang="en-US" sz="2400" b="1" dirty="0">
                <a:solidFill>
                  <a:srgbClr val="C00000"/>
                </a:solidFill>
              </a:rPr>
              <a:t> interaction</a:t>
            </a:r>
          </a:p>
          <a:p>
            <a:r>
              <a:rPr lang="en-US" sz="2400" b="1" dirty="0">
                <a:solidFill>
                  <a:srgbClr val="C00000"/>
                </a:solidFill>
              </a:rPr>
              <a:t>(3) Individual and group accountability</a:t>
            </a:r>
          </a:p>
          <a:p>
            <a:r>
              <a:rPr lang="en-US" sz="2400" b="1" dirty="0">
                <a:solidFill>
                  <a:srgbClr val="C00000"/>
                </a:solidFill>
              </a:rPr>
              <a:t>(4) Professional skills and</a:t>
            </a:r>
          </a:p>
          <a:p>
            <a:r>
              <a:rPr lang="en-US" sz="2400" b="1" dirty="0">
                <a:solidFill>
                  <a:srgbClr val="C00000"/>
                </a:solidFill>
              </a:rPr>
              <a:t>(5) Team processing.</a:t>
            </a:r>
          </a:p>
        </p:txBody>
      </p:sp>
    </p:spTree>
    <p:extLst>
      <p:ext uri="{BB962C8B-B14F-4D97-AF65-F5344CB8AC3E}">
        <p14:creationId xmlns:p14="http://schemas.microsoft.com/office/powerpoint/2010/main" val="2459123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Positive interdependence</a:t>
            </a:r>
            <a:endParaRPr lang="en-US" dirty="0"/>
          </a:p>
        </p:txBody>
      </p:sp>
      <p:sp>
        <p:nvSpPr>
          <p:cNvPr id="3" name="Content Placeholder 2"/>
          <p:cNvSpPr>
            <a:spLocks noGrp="1"/>
          </p:cNvSpPr>
          <p:nvPr>
            <p:ph sz="quarter" idx="13"/>
          </p:nvPr>
        </p:nvSpPr>
        <p:spPr/>
        <p:txBody>
          <a:bodyPr>
            <a:normAutofit/>
          </a:bodyPr>
          <a:lstStyle/>
          <a:p>
            <a:r>
              <a:rPr lang="en-US" sz="2400" cap="none" dirty="0" smtClean="0"/>
              <a:t>This principle captures the fact that each member of a learning team should understand that her/his contributions are critical to the success of the entire team. </a:t>
            </a:r>
          </a:p>
          <a:p>
            <a:r>
              <a:rPr lang="en-US" sz="2400" cap="none" dirty="0" smtClean="0"/>
              <a:t>Failure of a team member to perform her/his duties will result in a failure of the entire team.</a:t>
            </a:r>
            <a:endParaRPr lang="en-US" sz="2400" cap="none" dirty="0"/>
          </a:p>
        </p:txBody>
      </p:sp>
    </p:spTree>
    <p:extLst>
      <p:ext uri="{BB962C8B-B14F-4D97-AF65-F5344CB8AC3E}">
        <p14:creationId xmlns:p14="http://schemas.microsoft.com/office/powerpoint/2010/main" val="940402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Face-to-face </a:t>
            </a:r>
            <a:r>
              <a:rPr lang="en-US" b="1" i="1" dirty="0" err="1"/>
              <a:t>promotive</a:t>
            </a:r>
            <a:r>
              <a:rPr lang="en-US" b="1" i="1" dirty="0"/>
              <a:t> interaction</a:t>
            </a:r>
            <a:endParaRPr lang="en-US" dirty="0"/>
          </a:p>
        </p:txBody>
      </p:sp>
      <p:sp>
        <p:nvSpPr>
          <p:cNvPr id="3" name="Content Placeholder 2"/>
          <p:cNvSpPr>
            <a:spLocks noGrp="1"/>
          </p:cNvSpPr>
          <p:nvPr>
            <p:ph sz="quarter" idx="13"/>
          </p:nvPr>
        </p:nvSpPr>
        <p:spPr/>
        <p:txBody>
          <a:bodyPr>
            <a:normAutofit/>
          </a:bodyPr>
          <a:lstStyle/>
          <a:p>
            <a:r>
              <a:rPr lang="en-US" sz="2400" cap="none" dirty="0" smtClean="0"/>
              <a:t>This means that members promote each other's success by sharing resources. They help, support, encourage, and praise each other's efforts to learn. Both academic and personal support are part of this mutual goal.</a:t>
            </a:r>
            <a:endParaRPr lang="en-US" sz="2400" cap="none" dirty="0"/>
          </a:p>
        </p:txBody>
      </p:sp>
    </p:spTree>
    <p:extLst>
      <p:ext uri="{BB962C8B-B14F-4D97-AF65-F5344CB8AC3E}">
        <p14:creationId xmlns:p14="http://schemas.microsoft.com/office/powerpoint/2010/main" val="1894389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Individual and group accountability</a:t>
            </a:r>
            <a:endParaRPr lang="en-US" dirty="0"/>
          </a:p>
        </p:txBody>
      </p:sp>
      <p:sp>
        <p:nvSpPr>
          <p:cNvPr id="3" name="Content Placeholder 2"/>
          <p:cNvSpPr>
            <a:spLocks noGrp="1"/>
          </p:cNvSpPr>
          <p:nvPr>
            <p:ph sz="quarter" idx="13"/>
          </p:nvPr>
        </p:nvSpPr>
        <p:spPr/>
        <p:txBody>
          <a:bodyPr>
            <a:normAutofit/>
          </a:bodyPr>
          <a:lstStyle/>
          <a:p>
            <a:r>
              <a:rPr lang="en-US" sz="2400" cap="none" dirty="0" smtClean="0"/>
              <a:t>The group is accountable for achieving its goals, and each member must be accountable for contributing a fair share of the work toward the group goal. No one can "hitchhike" on the work of others. The performance of each individual must be assessed and the results given back to the group.</a:t>
            </a:r>
            <a:endParaRPr lang="en-US" sz="2400" cap="none" dirty="0"/>
          </a:p>
        </p:txBody>
      </p:sp>
    </p:spTree>
    <p:extLst>
      <p:ext uri="{BB962C8B-B14F-4D97-AF65-F5344CB8AC3E}">
        <p14:creationId xmlns:p14="http://schemas.microsoft.com/office/powerpoint/2010/main" val="4075477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Professional skills</a:t>
            </a:r>
            <a:endParaRPr lang="en-US" dirty="0"/>
          </a:p>
        </p:txBody>
      </p:sp>
      <p:sp>
        <p:nvSpPr>
          <p:cNvPr id="3" name="Content Placeholder 2"/>
          <p:cNvSpPr>
            <a:spLocks noGrp="1"/>
          </p:cNvSpPr>
          <p:nvPr>
            <p:ph sz="quarter" idx="13"/>
          </p:nvPr>
        </p:nvSpPr>
        <p:spPr>
          <a:xfrm>
            <a:off x="913774" y="1957789"/>
            <a:ext cx="10363826" cy="4077251"/>
          </a:xfrm>
        </p:spPr>
        <p:txBody>
          <a:bodyPr>
            <a:noAutofit/>
          </a:bodyPr>
          <a:lstStyle/>
          <a:p>
            <a:r>
              <a:rPr lang="en-US" sz="2400" cap="none" dirty="0" smtClean="0"/>
              <a:t>Interpersonal and small group skills are required to function as part of a group. These are basic teamwork skills. Group members must know how to - and be motivated to - provide effective leadership, make decisions, build trust, communicate, and manage </a:t>
            </a:r>
            <a:r>
              <a:rPr lang="en-US" sz="2400" cap="none" smtClean="0"/>
              <a:t>conflict.</a:t>
            </a:r>
            <a:endParaRPr lang="en-US" sz="2400" cap="none" dirty="0" smtClean="0"/>
          </a:p>
          <a:p>
            <a:pPr lvl="1"/>
            <a:r>
              <a:rPr lang="en-US" sz="2000" cap="none" dirty="0" smtClean="0"/>
              <a:t>Completing tasks</a:t>
            </a:r>
          </a:p>
          <a:p>
            <a:pPr lvl="1"/>
            <a:r>
              <a:rPr lang="en-US" sz="2000" cap="none" dirty="0" smtClean="0"/>
              <a:t>Communicating</a:t>
            </a:r>
          </a:p>
          <a:p>
            <a:pPr lvl="1"/>
            <a:r>
              <a:rPr lang="en-US" sz="2000" cap="none" dirty="0" smtClean="0"/>
              <a:t>Decision making</a:t>
            </a:r>
          </a:p>
          <a:p>
            <a:pPr lvl="1"/>
            <a:r>
              <a:rPr lang="en-US" sz="2000" cap="none" dirty="0" smtClean="0"/>
              <a:t>Managing conflict</a:t>
            </a:r>
          </a:p>
          <a:p>
            <a:pPr lvl="1"/>
            <a:r>
              <a:rPr lang="en-US" sz="2000" cap="none" dirty="0" smtClean="0"/>
              <a:t>Appreciating group members</a:t>
            </a:r>
          </a:p>
          <a:p>
            <a:endParaRPr lang="en-US" sz="2400" cap="none" dirty="0"/>
          </a:p>
        </p:txBody>
      </p:sp>
    </p:spTree>
    <p:extLst>
      <p:ext uri="{BB962C8B-B14F-4D97-AF65-F5344CB8AC3E}">
        <p14:creationId xmlns:p14="http://schemas.microsoft.com/office/powerpoint/2010/main" val="786571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Team processing</a:t>
            </a:r>
            <a:endParaRPr lang="en-US" dirty="0"/>
          </a:p>
        </p:txBody>
      </p:sp>
      <p:sp>
        <p:nvSpPr>
          <p:cNvPr id="3" name="Content Placeholder 2"/>
          <p:cNvSpPr>
            <a:spLocks noGrp="1"/>
          </p:cNvSpPr>
          <p:nvPr>
            <p:ph sz="quarter" idx="13"/>
          </p:nvPr>
        </p:nvSpPr>
        <p:spPr/>
        <p:txBody>
          <a:bodyPr>
            <a:normAutofit/>
          </a:bodyPr>
          <a:lstStyle/>
          <a:p>
            <a:r>
              <a:rPr lang="en-US" sz="2400" cap="none" dirty="0" smtClean="0"/>
              <a:t>Team members are given the responsibility of deciding how the goals of the team should be achieved. The core of the team processing is the assignment of duties and roles to each team member; such assignments are dynamic and the dynamic changes of roles are part of the team processing activities. This type of changes can happen during the small or large group meetings, and after discussing the work progress.</a:t>
            </a:r>
            <a:endParaRPr lang="en-US" sz="2400" dirty="0"/>
          </a:p>
        </p:txBody>
      </p:sp>
    </p:spTree>
    <p:extLst>
      <p:ext uri="{BB962C8B-B14F-4D97-AF65-F5344CB8AC3E}">
        <p14:creationId xmlns:p14="http://schemas.microsoft.com/office/powerpoint/2010/main" val="3549247814"/>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{77017215-84D8-C14B-A0F6-1EF93CAD79DC}tf10001073</Template>
  <TotalTime>228</TotalTime>
  <Words>1159</Words>
  <Application>Microsoft Office PowerPoint</Application>
  <PresentationFormat>Widescreen</PresentationFormat>
  <Paragraphs>93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MS PGothic</vt:lpstr>
      <vt:lpstr>Arial</vt:lpstr>
      <vt:lpstr>Times New Roman</vt:lpstr>
      <vt:lpstr>Tw Cen MT</vt:lpstr>
      <vt:lpstr>Wingdings</vt:lpstr>
      <vt:lpstr>Droplet</vt:lpstr>
      <vt:lpstr>General introduction</vt:lpstr>
      <vt:lpstr>Frequently asked questions about software engineering </vt:lpstr>
      <vt:lpstr>Frequently asked questions about software engineering</vt:lpstr>
      <vt:lpstr>Essential attributes of good software</vt:lpstr>
      <vt:lpstr>Software products</vt:lpstr>
      <vt:lpstr>Product specification</vt:lpstr>
      <vt:lpstr>Software process activities</vt:lpstr>
      <vt:lpstr>General issues that affect most software</vt:lpstr>
      <vt:lpstr>PowerPoint Presentation</vt:lpstr>
      <vt:lpstr>Five elements of collaboration</vt:lpstr>
      <vt:lpstr>Positive interdependence</vt:lpstr>
      <vt:lpstr>Face-to-face promotive interaction</vt:lpstr>
      <vt:lpstr>Individual and group accountability</vt:lpstr>
      <vt:lpstr>Professional skills</vt:lpstr>
      <vt:lpstr>Team processing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introduction</dc:title>
  <dc:creator>Dr. Ahmad Al-Jarrah</dc:creator>
  <cp:lastModifiedBy>JUST</cp:lastModifiedBy>
  <cp:revision>6</cp:revision>
  <dcterms:created xsi:type="dcterms:W3CDTF">2022-03-19T20:53:27Z</dcterms:created>
  <dcterms:modified xsi:type="dcterms:W3CDTF">2022-10-23T20:49:39Z</dcterms:modified>
</cp:coreProperties>
</file>